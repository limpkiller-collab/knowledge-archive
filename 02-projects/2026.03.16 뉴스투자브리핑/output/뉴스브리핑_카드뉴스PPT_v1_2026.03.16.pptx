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뉴스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브리핑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657600" y="2697480"/>
            <a:ext cx="1828800" cy="36576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Investment News Briefing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2026.03.16  MON  |  한국경제 · 매일경제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  권          경  제          부  동  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438912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FOMC · 국채금리 · 미국시장 전략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0" y="137160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주식시장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3대 뉴스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코스피·코스닥 제외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증시 단독 분석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(한·매 양대 매체 중복 기사 우선)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66878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668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 · 미국시장 ★중복보도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파월 기자회견 D-2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점도표가 시장을 가른다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43891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488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FOMC 3/16~20, 금리 동결 확실시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점도표 — 인하 횟수 2→1회 조정 시 기술주 밸류 압축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엔비디아 GTC 기조연설(18일) — AI주 변동성 확대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18일 파월 발언 전 나스닥 포지션 축소·헷지 유지 권고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한국경제 · 매일경제  |  2026.03.15 18:02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0"/>
            <a:ext cx="54864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4572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수요일 오전 3시 (한국시간)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0" y="1097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3.18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349240" y="34747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기자회견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4480560"/>
            <a:ext cx="3566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66878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668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 · 미국시장 ★중복보도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 10년물 국채금리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4.285% — 인플레 공포 재점화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43891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488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급등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10년물 4.285% (+29.5bp), 30년물 5% 돌파 임박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충격①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할인율 상승 → 기술주 DCF 밸류에이션 압축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충격②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무위험수익률 상승 → 주식 대비 채권 매력 증가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나스닥100 비중 축소, 금융주·에너지 섹터 로테이션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한국경제 · 매일경제  |  2026.03.15 15:21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0"/>
            <a:ext cx="54864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4572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 국채 10년물 금리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0" y="1097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4.285%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349240" y="34747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+29.5bp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(2월 말 대비)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4480560"/>
            <a:ext cx="3566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092708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092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 · 미국시장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"미국 주식 비중 줄여라"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PB들의 이례적 경고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43891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488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다우 -1.56%, S&amp;P500 -1.52%, 나스닥 -1.78% (3/12)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수혜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에너지(엑슨모빌·쉐브론) · 방산주(록히드·RTX) 강세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전쟁 장기화 시 나스닥 추가 -10~15% 가능성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성장주 축소 → 에너지·방산·금 ETF 분산 매수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한국경제  |  2026.03.15 18:04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0"/>
            <a:ext cx="54864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4572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60% → 한국 60%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0" y="1097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전환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349240" y="34747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 권고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이례적 재조정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4480560"/>
            <a:ext cx="3566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438912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환율 · 유가 · 정부 비상대응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0" y="137160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거시경제·금융시장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3대 뉴스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이란·미국 전쟁발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 충격 집중 분석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(한·매 양대 매체 중복 기사 우선)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996696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 ★중복보도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원·달러 1,500원 돌파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1997 외환위기 후 처음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43891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488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1,500.9원 · 3년물 국고채 3.338% 최고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 주 1,600원대 도달 가능" (전문가)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연쇄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수입 원가↑ → 기업 마진↓ → 물가↑ → 금리 인상 압박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달러 예금·달러 MMF·미 국채 ETF로 환 헷지 강화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한국경제 · 매일경제  |  2026.03.15 18:02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0"/>
            <a:ext cx="54864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4572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원·달러 환율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0" y="1097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₩1,500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349240" y="34747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야간거래 기준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외환위기 이후 최고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4480560"/>
            <a:ext cx="3566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996696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 ★중복보도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브렌트유 $100 돌파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인플레 재발화의 신호탄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43891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488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호르무즈해협 봉쇄 우려 → 공급 불안 가중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파급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항공 유류할증료 6단계→16단계 급등 예정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수혜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정유주·원유 ETF·방산주 강세 / 항공·물류주 실적 악화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섹터 분할 매수, $120 돌파 시 인하 사이클 종료 주의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한국경제 · 매일경제  |  2026.03.15 18:13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0"/>
            <a:ext cx="54864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4572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브렌트유 (배럴당)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0" y="1097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349240" y="34747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호르무즈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봉쇄 우려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4480560"/>
            <a:ext cx="3566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420624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한일 환율 공동 방어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비상 금융안전망 가동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43891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488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부총리 "원·엔화 가치 방어 한일 공동 대응" 천명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이란 전쟁 피해 중소기업 대출·보증 금융기관 면책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안전망 가동 = 패닉 셀링 저점 신호 가능성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환율 안정 시 은행주·수출주 저가 매수 기회 모색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한국경제  |  2026.03.15 18:09~18:11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0"/>
            <a:ext cx="54864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4572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비상 조치 발동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0" y="1097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안전망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가동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349240" y="34747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저점 시그널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구간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4480560"/>
            <a:ext cx="3566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부동산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438912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분양가 · 공사비 · 빌딩푸어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0" y="137160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주택·상업용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부동산 시장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3대 뉴스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분양 · 공급 · 상업용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24시간 기사 선정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516636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516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부동산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아파트 분양가 19.5% 급등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청약통장 150만명 대탈출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43891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488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3.3㎡당 5,264만원 (전년 4,405만원 대비 +19.5%)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2년간 청약통장 가입자 464만→314만 (150만명 해지)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 정책 수단 붕괴 → 기존 아파트 가격 지지 요인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도심 재개발 알짜 청약은 여전히 유효, 지방 신중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한국경제  |  2026.03.15 17:39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0"/>
            <a:ext cx="54864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4572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청약통장 해지자 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0" y="1097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150만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349240" y="34747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2년간 누적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(464만→314만)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4480560"/>
            <a:ext cx="3566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516636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516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부동산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공사비 5년간 27% 폭등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3만 가구 공급 지연 경고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43891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488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건설공사비지수 131.8 (5년 전 103.8 대비 +27%)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유가 60% 상승 시 공사비 추가 1.5% 상승 (연구원 추산)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2027~28년 입주물량 감소 → 서울 기존 아파트 가격 지지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건설주 선별 접근, 건설 소재(철강·시멘트) 관심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한국경제  |  2026.03.15 18:12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0"/>
            <a:ext cx="54864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4572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건설공사비지수 상승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0" y="1097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+27%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349240" y="34747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5년간 누적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103.8 → 131.8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4480560"/>
            <a:ext cx="3566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516636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516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부동산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이자 1,200만원 vs 월세 600만원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빌딩푸어 현상 심화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438912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488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역마진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40억 건물 월 이자 1,200만원 &gt; 임대수입 600만원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상업용 빌딩 2024년 1만2,262건 — 2021년 대비 반토막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 하락 전환이 바닥 확인의 선행 조건</a:t>
            </a:r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직접투자 대신 REITs·부동산 펀드로 간접 분산 접근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한국경제  |  2026.03.15 21:38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212080" y="0"/>
            <a:ext cx="3931920" cy="514350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0" y="0"/>
            <a:ext cx="54864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4572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역마진 규모 (40억 빌딩)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0" y="1097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-600만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349240" y="34747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이자 1,200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임대 600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4480560"/>
            <a:ext cx="35661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금주의 핵심 투자 키워드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468880" cy="914400"/>
          </a:xfrm>
          <a:prstGeom prst="rect">
            <a:avLst/>
          </a:prstGeom>
          <a:solidFill>
            <a:srgbClr val="333333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087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FOMC 점도표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92024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3/18 파월 기자회견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54680" y="1417320"/>
            <a:ext cx="2468880" cy="914400"/>
          </a:xfrm>
          <a:prstGeom prst="rect">
            <a:avLst/>
          </a:prstGeom>
          <a:solidFill>
            <a:srgbClr val="333333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64408" y="15087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 국채 4.285%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64408" y="192024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인플레이션 재점화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06440" y="1417320"/>
            <a:ext cx="2468880" cy="914400"/>
          </a:xfrm>
          <a:prstGeom prst="rect">
            <a:avLst/>
          </a:prstGeom>
          <a:solidFill>
            <a:srgbClr val="333333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6168" y="15087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엔비디아 GTC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16168" y="192024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AI주 변동성 확대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2468880" cy="914400"/>
          </a:xfrm>
          <a:prstGeom prst="rect">
            <a:avLst/>
          </a:prstGeom>
          <a:solidFill>
            <a:srgbClr val="333333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60604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원·달러 1,500원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" y="301752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외환위기 후 최고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2514600"/>
            <a:ext cx="2468880" cy="914400"/>
          </a:xfrm>
          <a:prstGeom prst="rect">
            <a:avLst/>
          </a:prstGeom>
          <a:solidFill>
            <a:srgbClr val="333333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260604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브렌트유 $100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64408" y="301752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에너지·방산 수혜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06440" y="2514600"/>
            <a:ext cx="2468880" cy="914400"/>
          </a:xfrm>
          <a:prstGeom prst="rect">
            <a:avLst/>
          </a:prstGeom>
          <a:solidFill>
            <a:srgbClr val="333333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260604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공사비 +27%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16168" y="301752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2027~28 공급 감소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브리핑은 투자 참고용이며 투자 판단의 최종 책임은 투자자 본인에게 있습니다  |  2026.03.16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일일 뉴스 투자 브리핑 2026.03.16</dc:title>
  <dc:subject>PptxGenJS Presentation</dc:subject>
  <dc:creator>PptxGenJS</dc:creator>
  <cp:lastModifiedBy>PptxGenJS</cp:lastModifiedBy>
  <cp:revision>1</cp:revision>
  <dcterms:created xsi:type="dcterms:W3CDTF">2026-03-15T17:15:04Z</dcterms:created>
  <dcterms:modified xsi:type="dcterms:W3CDTF">2026-03-15T17:15:04Z</dcterms:modified>
</cp:coreProperties>
</file>